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Sávszélesség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Hasznos adat-forgalom</c:v>
                </c:pt>
                <c:pt idx="1">
                  <c:v>Broadcast overhead L2-ben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0F4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91840"/>
            <a:ext cx="274320" cy="18516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217920" y="457200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Semmelweis Egyetem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Hálózatfejlesztés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kell modernizálnunk,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hogyan csináljuk?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Vezetői összefoglaló  •  2026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Bizalmas belső dokumentum — hálózatfejlesztési projekt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ma áttekintünk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9144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078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jelenlegi helyzet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3533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van szükség változásra?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64792"/>
            <a:ext cx="9144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562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1837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L2 hálózat problémái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1122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Lassúság, kockázat, átláthatatlanság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23744"/>
            <a:ext cx="9144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1518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25968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L3 alapú megoldás előnyei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8712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és Routed Access összehasonlítás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8269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82696"/>
            <a:ext cx="9144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7413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33558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Intelligens azonosítás (SGT)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6301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jobb a VLAN-nál?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04164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041648"/>
            <a:ext cx="9144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330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4114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Ajánlásunk és következő lépések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43891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Döntési szempontok és ütemterv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 tartunk most?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2651760" cy="150876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85800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éves technológia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gerinchálózat alapja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685800"/>
            <a:ext cx="2651760" cy="150876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685800"/>
            <a:ext cx="26517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7772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291840" y="15361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párhuzamos routing protokoll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8470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EIGRP, OSPF×2, BGP — egyszerre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685800"/>
            <a:ext cx="2651760" cy="150876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685800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7772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126480" y="15361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működő internet backup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8470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tartalék linkek ki vannak kapcsolva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Cisco Catalyst 6500/4500 eszközök — gyártói support vége közeledik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Egyetlen internet uplink ténylegesen: a backup linkek adminisztrálisan le vannak tiltva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Egészségügyi rendszerek (PACS, Andromeda) és általános irodai forgalom VLAN-szinten sincs rendesen elkülönítve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Hálózati incidens esetén fizikailag kell bemenni a szerverterembe — nincs valódi távelérés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Átláthatatlan VLAN-struktúra: organikusan, eseti igényekre reagálva nőtt ki, dokumentáció nélkül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az az L2 hálózat?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rövid bevezető — technikai szakkifejezések nélkül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566160"/>
          </a:xfrm>
          <a:prstGeom prst="rect">
            <a:avLst/>
          </a:prstGeom>
          <a:solidFill>
            <a:srgbClr val="FFF3E0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0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L2 hálózat — olyan mint egy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nagy, nyílt irodai tér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Mindenki ugyanabban a termen belül van.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valaki kiabál, mindenki hallja.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egy kolléga megkapja a tárgyaló kulcsát, bemehet az igazgató szobájába is — ha nem zárták be elég jól.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Minél több ember van a teremben, annál hangosabb és lassabb lesz minden.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70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L3 hálózat — olyan mint egy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 emeletes irodaház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2029968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osztálynak megvan a saját emelete.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emeleteket lift (router) köti össze.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 nem kapott belépési engedélyt egy emelethez, egyszerűen nem tud oda felmenni — még ha akarna sem.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emeleteken belüli zaj nem hallatszik át a többiekre. Mindenki gyorsabban dolgozik.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probléma: Hálózati 'kiabálás' — Broadcast lavina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történik L2 hálózatban, ha sok eszköz van egy szegmensben?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eszköz rendszeresen 'kiabál' a hálózaton: </a:t>
            </a:r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 van XY?"</a:t>
            </a:r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ezt broadcast csomagnak hívjuk.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összes többi eszköz kénytelen meghallgatni ezt — még ha nem érdekli is.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500, 1000, vagy 2000 eszköz van egy L2 domain-ben: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12080" y="594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Hálózati sávszélesség tipikus megoszlása nagy L2 doménben: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0" y="91440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E5C4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Lassulás:  Minden eszköznek fel kell dolgoznia a broadcast csomagokat — ez CPU időt és sávszélességet emészt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3813048"/>
            <a:ext cx="8229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C4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8587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Broadcast storm:  Ha valamelyik eszköz elromlik, olyan 'kiabálás' lavinát indíthat, ami percek alatt megbénítja az egész hálózatot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288536"/>
            <a:ext cx="822960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E5C4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33425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Spanning Tree instabilitás:  Az L2 hurkok megakadályozása a Spanning Tree mechanizmussal lassú convergence-t okoz (30-50 másodperc!) hálózati eseményeknél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probléma: Biztonsági kockázatok L2 hálózatban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JELENLEGI HELYZET: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840480" cy="27432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71600"/>
            <a:ext cx="2743200" cy="2011680"/>
          </a:xfrm>
          <a:prstGeom prst="ellipse">
            <a:avLst/>
          </a:prstGeom>
          <a:solidFill>
            <a:srgbClr val="FECAC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737360"/>
            <a:ext cx="1645920" cy="1280160"/>
          </a:xfrm>
          <a:prstGeom prst="ellipse">
            <a:avLst/>
          </a:prstGeom>
          <a:solidFill>
            <a:srgbClr val="FCA5A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874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PACS, Andromeda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egészségügyi rendszerek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 farm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campus hálózat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mindenki ugyanitt van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Egy fertőzött laptop hozzáférhet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klinikai rendszerekhez is!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640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AZONOSÍTOTT KOCKÁZATOK: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4206240" cy="11887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005840"/>
            <a:ext cx="914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VLAN átjárás (VLAN hopping)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3716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Speciális csomagokkal a VLAN-határokat meg lehet kerülni — az adatforgalom 'átszivárog' más szegmensekbe. A BKATA Gi2/23 interfész VLAN 1-4094-et enged át — ez nem elfogadható.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31720"/>
            <a:ext cx="4206240" cy="11887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331720"/>
            <a:ext cx="914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Klinikai adatok közel az általános hálózathoz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697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 (radiológia), Andromeda, MEDSOL rendszerek és az általános irodai hálózat csak VLAN szinten van elválasztva — robusztus L3 tűzfalszabályok nélkül.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657600"/>
            <a:ext cx="4206240" cy="11887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657600"/>
            <a:ext cx="914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Ransomware terjedési kockázat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40233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sikeres zsarolóvírus fertőzés L2-es hálózatban az azonos broadcast doménben lévő összes eszközre könnyen átterjedhet — a klinikai rendszereket is beleértve.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vs. L3 hálózat — a lényeg egymás mellett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9319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50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L2 alapú (jelenlegi)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46320" y="804672"/>
            <a:ext cx="39319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850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L3 alapú (tervezett)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8412480" cy="530352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forgalom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444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Terjed az egész szegmensben — mindenki hallja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444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Rétegen megáll — csak az adott szegmensben marad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47672"/>
            <a:ext cx="8412480" cy="530352"/>
          </a:xfrm>
          <a:prstGeom prst="rect">
            <a:avLst/>
          </a:prstGeom>
          <a:solidFill>
            <a:srgbClr val="152354"/>
          </a:solidFill>
          <a:ln w="12700">
            <a:solidFill>
              <a:srgbClr val="152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391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Hálózati incidens utáni helyreállás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039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 másodperc (Spanning Tree)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039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Másodpercen belüli (OSPF/EIGRP convergence)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42032"/>
            <a:ext cx="8412480" cy="530352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Biztonsági szegmentáció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633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= logikai szétválasztás, de L3-on átjárható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6334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forgalom tűzfalon vagy ACL-en megy át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36392"/>
            <a:ext cx="8412480" cy="530352"/>
          </a:xfrm>
          <a:prstGeom prst="rect">
            <a:avLst/>
          </a:prstGeom>
          <a:solidFill>
            <a:srgbClr val="152354"/>
          </a:solidFill>
          <a:ln w="12700">
            <a:solidFill>
              <a:srgbClr val="1523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27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Klinikai rendszerek védelme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32278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PACS, Andromeda VLAN-szinten elszigetelve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2278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tűzfal + SGT policy zárja körül fizikailag 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730752"/>
            <a:ext cx="8412480" cy="530352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Skálázhatóság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38221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 L2 domain = lassulás, instabilitás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822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épület önálló routing domain — könnyen bővíthető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325112"/>
            <a:ext cx="8412480" cy="530352"/>
          </a:xfrm>
          <a:prstGeom prst="rect">
            <a:avLst/>
          </a:prstGeom>
          <a:solidFill>
            <a:srgbClr val="152354"/>
          </a:solidFill>
          <a:ln w="12700">
            <a:solidFill>
              <a:srgbClr val="1523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416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Hibakeresés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0" y="44165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Átláthatatlan: ki, mikor, hova ment?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416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Nyomkövetható: routing tábla, policy log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modern megközelítés: SDA és Routed Access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Mindkettő L3-alapú — a különbség az automatizáció szintjében és a költségben van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3931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Cisco SDA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Access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Teljesen automatizált konfiguráció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568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Center vezérel mindent — nincs manuális switch-konfig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Makro-szegmentáció (VN)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505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Klinikai, oktatási, adminisztrációs hálózat fizikailag is szétválik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SGT mikro-szegmentáció natívan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0540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Azonosítás alapján azonnal érvényesül a policy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Magasabb beruházási költség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027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Drágább eszközök + Catalyst Center licenc szükséges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Magasabb szakmai igény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51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SDA-specifikus tudás az üzemeltetőktől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3931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7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60120"/>
            <a:ext cx="393192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Routed Access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9200" y="1371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Hagyományos, de modern L3 megközelítés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Alacsonyabb CapEx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19568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Catalyst Center licenc, standard eszközök elegendők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Egyszerűbb üzemeltetés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2505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routing protokollok — a csapat ismeri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834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ISE azonosítás ugyanúgy működik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30540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+ SGT szegmentáció Routed Access-ben is teljes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Nincs natív makro-szegmentáció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36027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szintű szeparáció nem elérhető SDA nélkül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931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Manuálisabb konfiguráció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4151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switch-et egyenként kell konfigurálni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— Intelligens, személyre szabott hozzáférés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8412480" cy="100584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67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Gondoljunk egy szállodára: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4183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VLAN olyan, mint ha a 3. emeleten mindenki bejuthat minden szobába. Az SGT olyan, mint egy okos szállodakártya: a te szobádba beenged, a tárgyalóba is — de a takarítóraktárba és a pénztárba nem, még ha ugyanazon az emeleten vannak is.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 működik az SGT a hálózatban?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2011680" cy="2651760"/>
          </a:xfrm>
          <a:prstGeom prst="rect">
            <a:avLst/>
          </a:prstGeom>
          <a:solidFill>
            <a:srgbClr val="1A3A7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121408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30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Bejelentkezés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Doktor csatlakozik a hálózathoz — beírja a jelszavát, vagy az eszköze automatikusan azonosítja magát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59152" y="27889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542032" y="2148840"/>
            <a:ext cx="2011680" cy="2651760"/>
          </a:xfrm>
          <a:prstGeom prst="rect">
            <a:avLst/>
          </a:prstGeom>
          <a:solidFill>
            <a:srgbClr val="1A3A7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73552" y="2121408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2130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33472" y="2788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Azonosítás (ISE)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33472" y="31546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Cisco ISE felismeri: ő MEDI csoportba tartozik → SGT 22 számot kap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35424" y="27889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718304" y="2148840"/>
            <a:ext cx="2011680" cy="2651760"/>
          </a:xfrm>
          <a:prstGeom prst="rect">
            <a:avLst/>
          </a:prstGeom>
          <a:solidFill>
            <a:srgbClr val="1A3A7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9824" y="2121408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2130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09744" y="2788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Policy érvényesül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9744" y="31546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SGT 22 engedélyt ad: Intranet ✅  Medikai rendszerek ✅  Gazdasági rendszerek ✗  IT Management 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11696" y="27889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894576" y="2148840"/>
            <a:ext cx="2011680" cy="2651760"/>
          </a:xfrm>
          <a:prstGeom prst="rect">
            <a:avLst/>
          </a:prstGeom>
          <a:solidFill>
            <a:srgbClr val="1A3A7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6096" y="2121408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6096" y="2130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86016" y="2788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Folyamatos védelem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86016" y="31546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SGT-t nem az IP-cím alapján ítéli meg, hanem a személyt — még ha más helyen, más IP-ről is csatlakozik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jobb az SGT, mint a hagyományos VLAN szegmentáció?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94360"/>
          <a:ext cx="8412480" cy="420624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3383280"/>
              </a:tblGrid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Szempont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VLAN (jelenlegi)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SGT (tervezett)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40"/>
                          </a:solidFill>
                        </a:rPr>
                        <a:t>Azonosítás alapja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Melyik portba van dugva a kábel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</a:rPr>
                        <a:t>Ki a felhasználó / mi az eszköz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40"/>
                          </a:solidFill>
                        </a:rPr>
                        <a:t>Munkahelyváltás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Másik szobában más VLAN → más jogosultság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</a:rPr>
                        <a:t>Bárhol csatlakozik, ugyanaz a jogosultság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40"/>
                          </a:solidFill>
                        </a:rPr>
                        <a:t>Laptop csere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MAC-cím változás → adminisztráció szükséges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</a:rPr>
                        <a:t>Az AD-fiókhoz kötött → automatikusan érvényes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40"/>
                          </a:solidFill>
                        </a:rPr>
                        <a:t>Vendéghálózat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Külön VLAN, manuálisan konfigurálva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</a:rPr>
                        <a:t>VEND SGT → csak internet, azonnal, automatikusan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40"/>
                          </a:solidFill>
                        </a:rPr>
                        <a:t>Klinikai eszköz (PACS)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VLAN 113 – ha rossz portra dugják, rossz hálózatban van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</a:rPr>
                        <a:t>MAC alapú azonosítás → mindig a PACS policy él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40"/>
                          </a:solidFill>
                        </a:rPr>
                        <a:t>Kockázat – IP változás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IP-változáskor a tűzfalszabályok meghibásodhatnak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</a:rPr>
                        <a:t>IP-független – a szabály az emberhez/eszközhöz tapad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40"/>
                          </a:solidFill>
                        </a:rPr>
                        <a:t>Dokumentálhatóság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VLAN-térkép, Excel, manuálisan karbantartva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</a:rPr>
                        <a:t>Minden hozzáférési szabály ISE-ben, nyomkövethetően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mit érhet el? — A jogosultsági mátrix szemléltetése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SGT policy meghatározza: az orvos beléphet a klinikai rendszerbe, de a gazdasági adatokba nem. A kamera soha nem lát ki az internetre.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74904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554480"/>
                <a:gridCol w="1280160"/>
                <a:gridCol w="1097280"/>
                <a:gridCol w="1097280"/>
              </a:tblGrid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Intranet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Orvosi rendszer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Gazdasági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Management 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Internet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👔  Általános dolgozó (DOLG)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🩺  Orvos / Klinikus (MEDI)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🎓  Hallgató (TANU)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💰  Gazdasági (GAZD)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🔐  IT Admin (INFADMIN)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📷  IP Kamera (Camera)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🖥  Klinikai eszköz (MEDMOB)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🌐  Vendég (VEND)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 és vészhelyzeti hozzáférés — amit ma nem tudunk megtenni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3931920" cy="41148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94360"/>
            <a:ext cx="393192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67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JELENLEGI HELYZET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Az internet tartalék BGP uplink adminisztrálisan le van tiltva → egyetlen uplink kiesése = internet kiesés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Az InterConnect eszközök a BKT/KKT szervertermekben vannak → ha a terem áramtalanodik, minden kiesik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70662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Nincs Out-of-Band (OOB) menedzsment → hálózati incidensnél fizikailag be kell menni a szerverterembe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51129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 BKT–NET campus fizikai link notconnect állapotban → nincs valódi cross-campus redundancia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0" y="594360"/>
            <a:ext cx="3931920" cy="411480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594360"/>
            <a:ext cx="3931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667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TERVEZETT MEGOLDÁS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0972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Valódi BGP redundancia: BKT elsődleges, KKT másodlagos — automatikus failover internet kiesés esetén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83480" y="190195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InterConnect eszközök B52 és KBE épületekben, a szervetermeknél független helyszínen → teremkiesés nem jelent hálózat-kiesést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83480" y="270662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Out-of-Band (OOB) Console Router: minden eszköz elér VPN + mobilnet tartalékon keresztül — otthonról is!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83480" y="351129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Új optikai kábelezés BKT↔B52 és KKT↔KBE között, diverzifikált útvonalakkal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029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vagy Routed Access? — Döntési szempontok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2651760" cy="4206240"/>
          </a:xfrm>
          <a:prstGeom prst="rect">
            <a:avLst/>
          </a:prstGeom>
          <a:solidFill>
            <a:srgbClr val="1A3A7C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2651760" cy="384048"/>
          </a:xfrm>
          <a:prstGeom prst="rect">
            <a:avLst/>
          </a:prstGeom>
          <a:solidFill>
            <a:srgbClr val="1E3A80"/>
          </a:solidFill>
          <a:ln w="12700">
            <a:solidFill>
              <a:srgbClr val="1E3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Beruházási költség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307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SDA #1: legmagasabb CapEx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55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Drága disztribúciós eszközök (9300X)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025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Catalyst Center licenc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Access: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79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Legalacsonyabb CapEx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0266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Cisco Catalyst eszközök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741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Nincs Catalyst Center licenc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370832"/>
            <a:ext cx="2651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16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Routed Access előnye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594360"/>
            <a:ext cx="2651760" cy="4206240"/>
          </a:xfrm>
          <a:prstGeom prst="rect">
            <a:avLst/>
          </a:prstGeom>
          <a:solidFill>
            <a:srgbClr val="1A3A7C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594360"/>
            <a:ext cx="2651760" cy="384048"/>
          </a:xfrm>
          <a:prstGeom prst="rect">
            <a:avLst/>
          </a:prstGeom>
          <a:solidFill>
            <a:srgbClr val="1E3A80"/>
          </a:solidFill>
          <a:ln w="12700">
            <a:solidFill>
              <a:srgbClr val="1E3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658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Szegmentáció mélysége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1051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1307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SDA #1: teljes VN/VRF makro-szegmentáció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1655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Klinikai hálózat fizikailag is elkülönül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20025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SGT mikro-szegmentáció natívan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Access: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2679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Nincs VN szeparáció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30266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SGT manuálisan konfigurálva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3741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Ugyanolyan policy — kicsit több munka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4370832"/>
            <a:ext cx="26517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4416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SDA előnye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594360"/>
            <a:ext cx="2651760" cy="4206240"/>
          </a:xfrm>
          <a:prstGeom prst="rect">
            <a:avLst/>
          </a:prstGeom>
          <a:solidFill>
            <a:srgbClr val="1A3A7C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594360"/>
            <a:ext cx="2651760" cy="384048"/>
          </a:xfrm>
          <a:prstGeom prst="rect">
            <a:avLst/>
          </a:prstGeom>
          <a:solidFill>
            <a:srgbClr val="1E3A80"/>
          </a:solidFill>
          <a:ln w="12700">
            <a:solidFill>
              <a:srgbClr val="1E3A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658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Üzemeltetés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1051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1307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Magasabb SDA szakértelem szükséges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1655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Catalyst Center megkönnyíti napi munkát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20025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Jövőbeli bővítés automatizált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Access: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26480" y="2679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Cisco ismeret elég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30266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Manuálisabb, de jól ismert módszerek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33741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Kevésbé automatizált, de átlátható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35040" y="4370832"/>
            <a:ext cx="2651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4416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Routed Access előnye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Mindkét megoldás biztonsági és teljesítményi előnye azonos az L2-vel szemben. A döntés a szervezet prioritásain múlik.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Összefoglalás: Mit nyerünk a fejlesztéssel?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784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Biztonság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978408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978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PACS és irodai hálózat egy szegmensben; ransomware könnyen terjed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66360" y="978408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9784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L3 tűzfal + SGT azonosítás; minden rendszer csak a saját zónájában elérhető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8412480" cy="731520"/>
          </a:xfrm>
          <a:prstGeom prst="rect">
            <a:avLst/>
          </a:prstGeom>
          <a:solidFill>
            <a:srgbClr val="E8EEF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7393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Megbízhatóság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1773936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7739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Egyetlen internet uplink ténylegesen; szerverterembe kell menni incidenskor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66360" y="1773936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7739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Valódi BGP redundancia + OOB távelérés mobilneten is — otthonról is megoldható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59736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6946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Átláthatóság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0" y="2569464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25694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Dokumentálatlan VLAN-struktúra; ki mit ér el? — nem látható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66360" y="2569464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5694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ISE naplóz minden bejelentkezést; Catalyst Center valós idejű láthatóság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55264"/>
            <a:ext cx="8412480" cy="731520"/>
          </a:xfrm>
          <a:prstGeom prst="rect">
            <a:avLst/>
          </a:prstGeom>
          <a:solidFill>
            <a:srgbClr val="E8EEF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649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Skálázhatóság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28800" y="3364992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33649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Új épület csatlakoztatása: manuális VLAN-konfiguráció mindenhol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66360" y="3364992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33649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Plug-and-play bővítés; új épület felvétele SDA-ban percek alatt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050792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160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Megfelelőség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28800" y="4160520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65960" y="4160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GDPR/egészségügyi adatvédelem: nehezen bizonyítható szegregáció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66360" y="4160520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4160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Auditálható, kriptoazonosítás-alapú hozzáférési napló minden klinikai rendszerhez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Következő lépések és döntési igények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450592" y="1234440"/>
            <a:ext cx="1371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2011680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04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Döntés  •  2026 Q2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2011680" cy="3474720"/>
          </a:xfrm>
          <a:prstGeom prst="rect">
            <a:avLst/>
          </a:prstGeom>
          <a:solidFill>
            <a:srgbClr val="1A3A7C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344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Variáns kiválasztása: SDA #1, SDA #2 vagy Routed Access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Beruházási keret jóváhagyása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429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InterConnect helyszínek (B52, KBE) fizikai előkészítése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234440"/>
            <a:ext cx="1371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2032" y="594360"/>
            <a:ext cx="201168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704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Tervezés  •  2026 Q3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42032" y="1170432"/>
            <a:ext cx="2011680" cy="3474720"/>
          </a:xfrm>
          <a:prstGeom prst="rect">
            <a:avLst/>
          </a:prstGeom>
          <a:solidFill>
            <a:srgbClr val="1A3A7C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2344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Low-Level Design (LLD) dokumentáció elkészítése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IP-cím terv, VLAN-struktúra, SGT-lista véglegesítése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3429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Szenzitív rendszerek (PACS, Andromeda) migrációs terve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1234440"/>
            <a:ext cx="1371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18304" y="594360"/>
            <a:ext cx="2011680" cy="54864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704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 •  2026 Q4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18304" y="1170432"/>
            <a:ext cx="2011680" cy="3474720"/>
          </a:xfrm>
          <a:prstGeom prst="rect">
            <a:avLst/>
          </a:prstGeom>
          <a:solidFill>
            <a:srgbClr val="1A3A7C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2344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Első épület migrálása teszt-kampuszként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ISE policy élesítése vezetékes kliensekre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28032" y="3429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OOB Zóna (C1100TG + OOB tűzfal) üzembe helyezése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94576" y="594360"/>
            <a:ext cx="201168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86016" y="704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 •  2027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94576" y="1170432"/>
            <a:ext cx="2011680" cy="3474720"/>
          </a:xfrm>
          <a:prstGeom prst="rect">
            <a:avLst/>
          </a:prstGeom>
          <a:solidFill>
            <a:srgbClr val="1A3A7C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04304" y="12344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Fokozatos épület-migráció, campus után campus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04304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Legacy Catalyst (BKATA, KKATA) leváltása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04304" y="3429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Teljes hálózat ISE policy alatt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18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Javasolt azonnali döntés: variáns kiválasztása és beruházási keret jóváhagyása 2026 Q2-ig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274320" cy="25831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6400800" y="36576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Semmelweis Egyetem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86868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modernebb,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biztonságosabb hálózat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felé.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27249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Kérdések, észrevételek, döntési pontok: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Melyik variánst preferálja a vezetőség — SDA vagy Routed Access?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Mi a preferált ütemezés a pilot megindítására?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Melyek a szenzitív, elsőként migrálásból kizárandó rendszerek?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Semmelweis Hálózatfejlesztés  •  Bizalmas belső anyag  •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Semmelweis Egyetem Hálózatfejlesztés</dc:title>
  <dc:subject>PptxGenJS Presentation</dc:subject>
  <dc:creator>PptxGenJS</dc:creator>
  <cp:lastModifiedBy>PptxGenJS</cp:lastModifiedBy>
  <cp:revision>1</cp:revision>
  <dcterms:created xsi:type="dcterms:W3CDTF">2026-03-26T19:21:43Z</dcterms:created>
  <dcterms:modified xsi:type="dcterms:W3CDTF">2026-03-26T19:21:43Z</dcterms:modified>
</cp:coreProperties>
</file>